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72" r:id="rId12"/>
    <p:sldId id="267" r:id="rId13"/>
    <p:sldId id="273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D69"/>
    <a:srgbClr val="DFC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0BB55A-0AE0-4DAF-93B3-AAF0721F05D8}" type="datetimeFigureOut">
              <a:rPr lang="ru-RU" smtClean="0"/>
              <a:t>21.04.2025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27B176-BE3A-4E5C-B4DE-66A0326F12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872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69205E-C18A-41CC-DFA4-F634A95B0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EDFCAE-3F7E-20FB-C6E7-51608619A8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8CDB94-DBA1-6763-F59D-C3C52698C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1707-60AC-4366-BDB9-2507E2DEE645}" type="datetime1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0C55A6-3403-65BD-673D-1125776EC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30DDAC-6C14-8514-A2AF-A398EE92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04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0B0E8-5B8F-6247-6495-488E501EC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1FA7D4-B6E5-FCEF-7106-4E3BE8FA8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9AD84A-277A-A93C-063E-F3660C4C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678B0-35F6-4207-8FDE-68D8DC4785E4}" type="datetime1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95B2D5-2296-67C2-9C5A-E2C1708B2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21E03F-64B7-D213-B53A-45D2DFAA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646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7CB574-DB3C-2F3A-C3A9-11C299DC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9AA133A-8F67-C01E-9453-0CBEE60C0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78D5A-8BBA-3355-9011-C3E466103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7D22-A565-4161-BBF6-548E5A3F94CF}" type="datetime1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5DBD3E-6C55-5CE8-5F40-3887F535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7F1D69-ECA2-D400-E9DF-E7548648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89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22D911-6F06-7502-9422-05284E95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A4A4C8-8150-7DB7-6555-CBC0B8BBD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23095C-1CB8-A31A-2948-BDD3141E3C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14E8B2-8868-456D-8100-ED242B05A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313A1-72F6-4805-8BFD-BC7E040342D2}" type="datetime1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862F76-4765-3D98-88E9-7FFF2A762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1A41BD-BE9A-2C8D-D7A1-BECB97B40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362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9C5D5B-3DBA-00B9-269E-810D8819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A7CEB79-069F-E775-3CBA-E840F2011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61F9E9-0326-6CEF-6462-955DAEA0B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703AA87-831A-D30B-16AE-68F827520A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CC88E50-2171-C0B4-A8D5-6D7A129F05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7660FB7-6E63-ED4C-AAEA-1F4D47C4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E3B-1913-46C6-BA3C-28E76FE852CD}" type="datetime1">
              <a:rPr lang="ru-RU" smtClean="0"/>
              <a:t>21.04.2025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466B590-3894-FFE3-DB8A-B987793C4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7C069DF-30AF-BCE1-397A-CF670BA1B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317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FED4F-FE29-C9C0-1C1A-EF87148E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72D0EFB-1F04-8940-4D59-AFDD32A5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31E3D-FBE2-4E66-B817-DDE6E525E371}" type="datetime1">
              <a:rPr lang="ru-RU" smtClean="0"/>
              <a:t>21.04.2025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413680-244E-90BE-E460-97DC1AD52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A6F943-2B79-F461-618C-212E68D5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889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962CF0E-2112-627E-128A-4F115AD8F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F00D-8388-470A-8CEB-92B2C4A393FC}" type="datetime1">
              <a:rPr lang="ru-RU" smtClean="0"/>
              <a:t>21.04.2025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54415DA-449B-A51C-11B2-5E563551A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43F485-A519-4F43-7E9B-483554ECD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039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BB451-8889-FA6A-FB5C-9EE01A50A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6CFF16-834C-18B4-7BD6-688FA9514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BFE2D2-5A21-60EF-841C-1A2E5EC49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00005C1-F652-1480-19BF-A2D0DB1A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27CF-04B7-4E03-AF63-145A5ADB815B}" type="datetime1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A2F3061-929C-65FA-BCB0-E8889300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79B88A-D125-C526-8491-A53728EE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294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A3276-276E-905B-CCEA-298A17D41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519E676-91DC-5A18-A539-1093F1B02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7920326-8107-063D-7EAA-98C216CAB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14A4-E4CC-A411-5ED0-6C3D0111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2804-DCF8-46E9-A6E9-F01F29303C54}" type="datetime1">
              <a:rPr lang="ru-RU" smtClean="0"/>
              <a:t>21.04.2025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195F69-D874-E95C-C03D-062842E51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6CE5CB-9A81-236C-AEEA-2F03A4FF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72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6DB658-40A5-3B5C-CA08-0599CCB8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CAC3BC0-7CA3-48C2-1CDA-C725203B1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190FE-D18A-D660-FBA8-A3AE3BDC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5D936-494C-4317-8804-8E0985B6C1D1}" type="datetime1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2C9A740-D141-8A3A-9878-702F49ED4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7E5BF5-5720-9CE6-6E8C-6B229B062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927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A539D6C-E683-0FFF-8D84-393168CC6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1330060-2F06-3AED-077D-1C8B5382A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EBEA2E-C07D-5FF6-A829-F266572F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A0C3C-D8B6-48BE-BFDB-7308CA8B9C54}" type="datetime1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35DB89-95D3-B94B-BFD4-3F8A80657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168CF3-4EE9-A7A6-4F64-4F3F29116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56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4931A-E6E9-D2B2-E3B4-7CD75DD62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E63275-8014-AACB-FE1C-186127E84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EFF100-534B-DE58-1314-11D4913E4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27144-FFA5-4543-A475-EAD27C4BF0BC}" type="datetime1">
              <a:rPr lang="ru-RU" smtClean="0"/>
              <a:t>21.04.2025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B5B7C9-713F-F44A-1544-170D7363D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000A5C-0627-7959-56A6-96D15E9D5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269D5-67E1-47FE-B8A8-26B39E542C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6939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jangoproject.com/" TargetMode="External"/><Relationship Id="rId7" Type="http://schemas.openxmlformats.org/officeDocument/2006/relationships/image" Target="../media/image25.png"/><Relationship Id="rId2" Type="http://schemas.openxmlformats.org/officeDocument/2006/relationships/hyperlink" Target="https://docs.python.org/3.10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docker.com/" TargetMode="External"/><Relationship Id="rId4" Type="http://schemas.openxmlformats.org/officeDocument/2006/relationships/hyperlink" Target="https://www.django-rest-framework.org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E3DF98-7A9C-D54C-695F-9CE62FED22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81187"/>
            <a:ext cx="12192000" cy="584775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«Рекомендательные системы для B2B: серверная часть»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DEC4D1-0E46-9CCF-DD52-C5A7F0DB8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5101" y="6170769"/>
            <a:ext cx="1915256" cy="56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0F7D833-27A5-89EB-1137-22A8907C5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7529" y="6170769"/>
            <a:ext cx="1869974" cy="56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643562-6218-9433-AAB2-9EA6F32C8375}"/>
              </a:ext>
            </a:extLst>
          </p:cNvPr>
          <p:cNvSpPr txBox="1"/>
          <p:nvPr/>
        </p:nvSpPr>
        <p:spPr>
          <a:xfrm>
            <a:off x="0" y="2466987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«B2B Recommendation Systems: Server Side»</a:t>
            </a:r>
            <a:endParaRPr lang="ru-RU" sz="3200" b="1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F2E51-DDAB-7B19-B9A4-670C706487E7}"/>
              </a:ext>
            </a:extLst>
          </p:cNvPr>
          <p:cNvSpPr txBox="1"/>
          <p:nvPr/>
        </p:nvSpPr>
        <p:spPr>
          <a:xfrm>
            <a:off x="125835" y="5104248"/>
            <a:ext cx="725647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Автор: Радионов Н.Д. БПИ236</a:t>
            </a:r>
          </a:p>
          <a:p>
            <a:endParaRPr lang="ru-RU" sz="24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r>
              <a:rPr lang="ru-RU" sz="2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Руководитель: </a:t>
            </a:r>
            <a:r>
              <a:rPr lang="ru-RU" sz="2400" dirty="0" err="1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Мунерман</a:t>
            </a:r>
            <a:r>
              <a:rPr lang="en-US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 </a:t>
            </a:r>
            <a:r>
              <a:rPr lang="ru-RU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И</a:t>
            </a:r>
            <a:r>
              <a:rPr lang="en-US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.</a:t>
            </a:r>
            <a:r>
              <a:rPr lang="ru-RU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В</a:t>
            </a:r>
            <a:r>
              <a:rPr lang="en-US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.</a:t>
            </a:r>
            <a:r>
              <a:rPr lang="ru-RU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 </a:t>
            </a:r>
          </a:p>
          <a:p>
            <a:r>
              <a:rPr lang="ru-RU" sz="2400" dirty="0">
                <a:solidFill>
                  <a:srgbClr val="102D69"/>
                </a:solidFill>
                <a:highlight>
                  <a:srgbClr val="DFC7F2"/>
                </a:highlight>
                <a:latin typeface="Navigo" panose="02070503070706040303" pitchFamily="18" charset="-52"/>
                <a:ea typeface="Navigo" panose="02070503070706040303" pitchFamily="18" charset="-52"/>
              </a:rPr>
              <a:t>Директор исследовательского центра Интерфакс-ЛАБ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2DD00-F261-52C0-11C7-26C88DB3E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4A583E-2D9F-4F27-8BEA-5C3345C1A554}"/>
              </a:ext>
            </a:extLst>
          </p:cNvPr>
          <p:cNvSpPr txBox="1"/>
          <p:nvPr/>
        </p:nvSpPr>
        <p:spPr>
          <a:xfrm>
            <a:off x="0" y="3333646"/>
            <a:ext cx="1219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Курсовая работа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 |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  Командный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 |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 Программный проект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E799D8-C21B-4990-926F-1FE32B1DDBFF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3888189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DAAF8B-48BF-623E-FEA7-3CE65FCDA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>
                <a:solidFill>
                  <a:srgbClr val="102D69"/>
                </a:solidFill>
              </a:rPr>
              <a:t>2</a:t>
            </a:fld>
            <a:endParaRPr lang="ru-RU" dirty="0">
              <a:solidFill>
                <a:srgbClr val="102D69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2DF3E9D-BC8B-8B36-8B87-FEEDD76C684E}"/>
              </a:ext>
            </a:extLst>
          </p:cNvPr>
          <p:cNvSpPr txBox="1"/>
          <p:nvPr/>
        </p:nvSpPr>
        <p:spPr>
          <a:xfrm>
            <a:off x="340708" y="1697757"/>
            <a:ext cx="939890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102D69"/>
                </a:solidFill>
                <a:latin typeface="Navigo" panose="02070503070706040303"/>
              </a:rPr>
              <a:t>В сфере государственных и корпоративных закупок, регулируемой законами 44-ФЗ и 223-ФЗ, заказчики размещают тендеры на поставку товаров и услуг, а поставщики подают заявки на участие в конкурсах.</a:t>
            </a:r>
          </a:p>
          <a:p>
            <a:br>
              <a:rPr lang="ru-RU" sz="1400" dirty="0">
                <a:solidFill>
                  <a:srgbClr val="102D69"/>
                </a:solidFill>
                <a:latin typeface="Navigo" panose="02070503070706040303"/>
              </a:rPr>
            </a:br>
            <a:r>
              <a:rPr lang="ru-RU" sz="1400" dirty="0">
                <a:solidFill>
                  <a:srgbClr val="102D69"/>
                </a:solidFill>
                <a:latin typeface="Navigo" panose="02070503070706040303"/>
              </a:rPr>
              <a:t>В этом процессе участвуют различные стороны: заказчики, поставщики, органы контроля.</a:t>
            </a:r>
            <a:br>
              <a:rPr lang="ru-RU" sz="1400" dirty="0">
                <a:solidFill>
                  <a:srgbClr val="102D69"/>
                </a:solidFill>
                <a:latin typeface="Navigo" panose="02070503070706040303"/>
              </a:rPr>
            </a:br>
            <a:r>
              <a:rPr lang="ru-RU" sz="1400" dirty="0">
                <a:solidFill>
                  <a:srgbClr val="102D69"/>
                </a:solidFill>
                <a:latin typeface="Navigo" panose="02070503070706040303"/>
              </a:rPr>
              <a:t>Особенности этой области включают сложные регламенты, разнообразие товаров и необходимость оценки надежности потенциальных партнёров.</a:t>
            </a:r>
          </a:p>
          <a:p>
            <a:endParaRPr lang="ru-RU" sz="1400" b="1" dirty="0">
              <a:solidFill>
                <a:srgbClr val="102D69"/>
              </a:solidFill>
              <a:latin typeface="Navigo" panose="02070503070706040303"/>
              <a:ea typeface="Navigo" panose="02070503070706040303" pitchFamily="18" charset="-52"/>
            </a:endParaRPr>
          </a:p>
          <a:p>
            <a:r>
              <a:rPr lang="ru-RU" sz="1400" b="1" dirty="0">
                <a:solidFill>
                  <a:srgbClr val="102D69"/>
                </a:solidFill>
                <a:latin typeface="Navigo" panose="02070503070706040303"/>
                <a:ea typeface="Navigo" panose="02070503070706040303" pitchFamily="18" charset="-52"/>
              </a:rPr>
              <a:t>Часто выбор надежного поставщика бывает затруднительным</a:t>
            </a:r>
            <a:r>
              <a:rPr lang="en-US" sz="1400" b="1" dirty="0">
                <a:solidFill>
                  <a:srgbClr val="102D69"/>
                </a:solidFill>
                <a:latin typeface="Navigo" panose="02070503070706040303"/>
                <a:ea typeface="Navigo" panose="02070503070706040303" pitchFamily="18" charset="-52"/>
              </a:rPr>
              <a:t>, </a:t>
            </a:r>
            <a:r>
              <a:rPr lang="ru-RU" sz="1400" b="1" dirty="0">
                <a:solidFill>
                  <a:srgbClr val="102D69"/>
                </a:solidFill>
                <a:latin typeface="Navigo" panose="02070503070706040303"/>
                <a:ea typeface="Navigo" panose="02070503070706040303" pitchFamily="18" charset="-52"/>
              </a:rPr>
              <a:t>что приводит к</a:t>
            </a:r>
            <a:r>
              <a:rPr lang="en-US" sz="1400" b="1" dirty="0">
                <a:solidFill>
                  <a:srgbClr val="102D69"/>
                </a:solidFill>
                <a:latin typeface="Navigo" panose="02070503070706040303"/>
                <a:ea typeface="Navigo" panose="02070503070706040303" pitchFamily="18" charset="-52"/>
              </a:rPr>
              <a:t>:</a:t>
            </a:r>
          </a:p>
          <a:p>
            <a:endParaRPr lang="ru-RU" sz="1400" b="1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Затратам времени на поиск и проверку поставщиков.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ru-RU" sz="14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ru-RU" sz="1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Рискам сотрудничества с ненадежными партнерами.</a:t>
            </a:r>
          </a:p>
          <a:p>
            <a:endParaRPr lang="ru-RU" sz="1400" b="1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r>
              <a:rPr lang="ru-RU" sz="14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Решение: разработка серверного приложения, которое: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ru-RU" sz="1400" b="1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1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Автоматизирует подбор поставщиков на основе параметров заказа.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ru-RU" sz="14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1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Интегрирует рекомендательную модель.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ru-RU" sz="14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ru-RU" sz="1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Обеспечивает взаимодействие через REST </a:t>
            </a:r>
            <a:r>
              <a:rPr lang="en-US" sz="14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API</a:t>
            </a:r>
            <a:endParaRPr lang="ru-RU" sz="14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endParaRPr lang="ru-RU" sz="1400" b="1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endParaRPr lang="ru-RU" b="1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95D8F9E-D6DA-54D1-B40C-F0FBBA86A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67D823D3-BDAB-FFBB-02F5-3EE9F248C25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526" y="4029076"/>
            <a:ext cx="2433985" cy="2166246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3FE7F8-A956-4DF9-8ADC-DED23309B962}"/>
              </a:ext>
            </a:extLst>
          </p:cNvPr>
          <p:cNvSpPr txBox="1"/>
          <p:nvPr/>
        </p:nvSpPr>
        <p:spPr>
          <a:xfrm>
            <a:off x="1154311" y="698770"/>
            <a:ext cx="79513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4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Предметная область</a:t>
            </a:r>
            <a:endParaRPr lang="ru-RU" b="1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8F5730-CAA9-478E-A164-DBC56B4C7DD0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226653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E394A7-90A1-D8AA-EA03-840DC3B96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3</a:t>
            </a:fld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C2A5A2-4FBC-A02A-28C3-BC5CBF0D1F00}"/>
              </a:ext>
            </a:extLst>
          </p:cNvPr>
          <p:cNvSpPr txBox="1"/>
          <p:nvPr/>
        </p:nvSpPr>
        <p:spPr>
          <a:xfrm>
            <a:off x="1154311" y="698770"/>
            <a:ext cx="60945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Цель и задачи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E2CB8C-C805-DCA7-A046-0DF42ED64619}"/>
              </a:ext>
            </a:extLst>
          </p:cNvPr>
          <p:cNvSpPr txBox="1"/>
          <p:nvPr/>
        </p:nvSpPr>
        <p:spPr>
          <a:xfrm>
            <a:off x="492547" y="1399043"/>
            <a:ext cx="1055353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Цель</a:t>
            </a:r>
            <a:r>
              <a:rPr lang="ru-RU" sz="3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:</a:t>
            </a:r>
            <a:b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</a:b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Разработать программный интерфейс для упрощения выбора поставщиков в B2B-сегменте.</a:t>
            </a:r>
          </a:p>
          <a:p>
            <a:pPr algn="l"/>
            <a:endParaRPr lang="ru-RU" sz="40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/>
            <a:r>
              <a:rPr lang="ru-RU" sz="28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Задачи</a:t>
            </a:r>
            <a:r>
              <a:rPr lang="ru-RU" sz="3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:</a:t>
            </a:r>
            <a:endParaRPr lang="ru-RU" sz="32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>
              <a:buFont typeface="+mj-lt"/>
              <a:buAutoNum type="arabicPeriod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Проектирование базы данных: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Определение структуры таблиц (</a:t>
            </a:r>
            <a:r>
              <a:rPr lang="ru-RU" sz="2000" i="0" dirty="0" err="1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Supplier</a:t>
            </a: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, Order, User).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Обеспечение целостности и производительности.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Разработка REST API: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Реализация CRUD-операций для управления данными.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Настройка ролевой модели (администратор, поставщик, заказчик).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Интеграция рекомендательной модели: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Анализ архитектурных подходов (рассмотрены монолитный и </a:t>
            </a:r>
            <a:r>
              <a:rPr lang="ru-RU" sz="2000" i="0" dirty="0" err="1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микросервисный</a:t>
            </a: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).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Интеграция</a:t>
            </a: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модели в серверное приложение.</a:t>
            </a:r>
          </a:p>
          <a:p>
            <a:pPr algn="l">
              <a:buFont typeface="+mj-lt"/>
              <a:buAutoNum type="arabicPeriod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Контейнеризация:</a:t>
            </a: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r>
              <a:rPr lang="ru-RU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Развертывание с помощью </a:t>
            </a:r>
            <a:r>
              <a:rPr lang="ru-RU" sz="2000" i="0" dirty="0" err="1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Docke</a:t>
            </a:r>
            <a:r>
              <a:rPr lang="en-US" sz="20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r</a:t>
            </a:r>
            <a:endParaRPr lang="ru-RU" sz="200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8C8F697-1AE8-CFE0-7C49-C47005DD7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темнота, черный, черно-белый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179C92EB-830C-C558-2362-37AA335388A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964" y="2385191"/>
            <a:ext cx="2993732" cy="26344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856F59-1527-4EC5-9237-2B76EEC5845D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3382588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7D9AB4-ACE1-2947-B00C-3FC26C91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4</a:t>
            </a:fld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B1C72D-1791-10BD-7AD1-6F9CAD2526B9}"/>
              </a:ext>
            </a:extLst>
          </p:cNvPr>
          <p:cNvSpPr txBox="1"/>
          <p:nvPr/>
        </p:nvSpPr>
        <p:spPr>
          <a:xfrm>
            <a:off x="1154311" y="698770"/>
            <a:ext cx="79513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4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Актуальность работы</a:t>
            </a:r>
            <a:endParaRPr lang="ru-RU" b="1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ADF3FC-B374-07D2-6DDF-43D60F85CFB7}"/>
              </a:ext>
            </a:extLst>
          </p:cNvPr>
          <p:cNvSpPr txBox="1"/>
          <p:nvPr/>
        </p:nvSpPr>
        <p:spPr>
          <a:xfrm>
            <a:off x="244697" y="2582012"/>
            <a:ext cx="79513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102D69"/>
                </a:solidFill>
                <a:latin typeface="Navigo" panose="02070503070706040303"/>
              </a:rPr>
              <a:t>Актуальность проекта обусловлена общей значимостью и высокой практической востребованностью тематики закупочной деятельности в рамках 44-ФЗ и 223-ФЗ.</a:t>
            </a:r>
            <a:r>
              <a:rPr lang="ru-RU" sz="2000" dirty="0">
                <a:solidFill>
                  <a:srgbClr val="102D69"/>
                </a:solidFill>
                <a:latin typeface="Navigo" panose="02070503070706040303"/>
              </a:rPr>
              <a:t> Эти законы регулируют значительную часть государственных и корпоративных закупок в России, и любые исследования, направленные на повышение эффективности и обоснованности закупок в их рамках, являются актуальными.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F8A1CDC-20EA-5239-1E7F-F9854C3E4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C5E1BB2D-680B-011A-D0C9-261A1C528C9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11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7424" y="3286544"/>
            <a:ext cx="3039879" cy="28726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019D3F-ECCB-43DA-B015-E87746DB87BF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241421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010DB6-71FB-C39A-FE67-78EE998E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5</a:t>
            </a:fld>
            <a:endParaRPr lang="ru-RU"/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0332C321-06FC-8BA2-751A-92A4D6C3D3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180932"/>
              </p:ext>
            </p:extLst>
          </p:nvPr>
        </p:nvGraphicFramePr>
        <p:xfrm>
          <a:off x="225172" y="2023961"/>
          <a:ext cx="10781183" cy="2928847"/>
        </p:xfrm>
        <a:graphic>
          <a:graphicData uri="http://schemas.openxmlformats.org/drawingml/2006/table">
            <a:tbl>
              <a:tblPr/>
              <a:tblGrid>
                <a:gridCol w="2407833">
                  <a:extLst>
                    <a:ext uri="{9D8B030D-6E8A-4147-A177-3AD203B41FA5}">
                      <a16:colId xmlns:a16="http://schemas.microsoft.com/office/drawing/2014/main" val="3298351000"/>
                    </a:ext>
                  </a:extLst>
                </a:gridCol>
                <a:gridCol w="1279451">
                  <a:extLst>
                    <a:ext uri="{9D8B030D-6E8A-4147-A177-3AD203B41FA5}">
                      <a16:colId xmlns:a16="http://schemas.microsoft.com/office/drawing/2014/main" val="1793845207"/>
                    </a:ext>
                  </a:extLst>
                </a:gridCol>
                <a:gridCol w="2454925">
                  <a:extLst>
                    <a:ext uri="{9D8B030D-6E8A-4147-A177-3AD203B41FA5}">
                      <a16:colId xmlns:a16="http://schemas.microsoft.com/office/drawing/2014/main" val="1002657445"/>
                    </a:ext>
                  </a:extLst>
                </a:gridCol>
                <a:gridCol w="2323613">
                  <a:extLst>
                    <a:ext uri="{9D8B030D-6E8A-4147-A177-3AD203B41FA5}">
                      <a16:colId xmlns:a16="http://schemas.microsoft.com/office/drawing/2014/main" val="1110824253"/>
                    </a:ext>
                  </a:extLst>
                </a:gridCol>
                <a:gridCol w="2315361">
                  <a:extLst>
                    <a:ext uri="{9D8B030D-6E8A-4147-A177-3AD203B41FA5}">
                      <a16:colId xmlns:a16="http://schemas.microsoft.com/office/drawing/2014/main" val="1513504989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функция</a:t>
                      </a:r>
                    </a:p>
                  </a:txBody>
                  <a:tcPr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 проект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2000" b="1" dirty="0" err="1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производитель.рф</a:t>
                      </a:r>
                      <a:endParaRPr lang="ru-RU" sz="2000" b="1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productcenter.ru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proizvoditeli-rossii.ru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2000" b="1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2519921"/>
                  </a:ext>
                </a:extLst>
              </a:tr>
              <a:tr h="433795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Личный кабинет</a:t>
                      </a:r>
                    </a:p>
                  </a:txBody>
                  <a:tcPr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83475"/>
                  </a:ext>
                </a:extLst>
              </a:tr>
              <a:tr h="599875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Поиск</a:t>
                      </a:r>
                      <a:r>
                        <a:rPr lang="en-US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/</a:t>
                      </a:r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фильтрация поставщиков</a:t>
                      </a:r>
                    </a:p>
                  </a:txBody>
                  <a:tcPr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664804"/>
                  </a:ext>
                </a:extLst>
              </a:tr>
              <a:tr h="571547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Рекомендации на основе ИИ</a:t>
                      </a:r>
                    </a:p>
                  </a:txBody>
                  <a:tcPr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❌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❌</a:t>
                      </a:r>
                      <a:endParaRPr lang="en-US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❌</a:t>
                      </a: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137988"/>
                  </a:ext>
                </a:extLst>
              </a:tr>
              <a:tr h="571547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Взаимодействие по ролям</a:t>
                      </a:r>
                    </a:p>
                  </a:txBody>
                  <a:tcPr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  <a:p>
                      <a:pPr algn="ctr"/>
                      <a:endParaRPr lang="ru-RU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  <a:p>
                      <a:pPr algn="ctr"/>
                      <a:endParaRPr lang="ru-RU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❌</a:t>
                      </a:r>
                      <a:endParaRPr lang="en-US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  <a:p>
                      <a:pPr algn="ctr"/>
                      <a:endParaRPr lang="en-US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rgbClr val="102D69"/>
                          </a:solidFill>
                          <a:effectLst/>
                          <a:latin typeface="Navigo" panose="02070503070706040303" pitchFamily="18" charset="-52"/>
                          <a:ea typeface="Navigo" panose="02070503070706040303" pitchFamily="18" charset="-52"/>
                        </a:rPr>
                        <a:t>✅</a:t>
                      </a:r>
                    </a:p>
                    <a:p>
                      <a:pPr algn="ctr"/>
                      <a:endParaRPr lang="ru-RU" dirty="0">
                        <a:solidFill>
                          <a:srgbClr val="102D69"/>
                        </a:solidFill>
                        <a:effectLst/>
                        <a:latin typeface="Navigo" panose="02070503070706040303" pitchFamily="18" charset="-52"/>
                        <a:ea typeface="Navigo" panose="02070503070706040303" pitchFamily="18" charset="-52"/>
                      </a:endParaRPr>
                    </a:p>
                  </a:txBody>
                  <a:tcPr marL="130645" marR="130645" marT="65322" marB="65322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687523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F6C80F40-0BAC-00F0-60C1-42131E2B3730}"/>
              </a:ext>
            </a:extLst>
          </p:cNvPr>
          <p:cNvSpPr txBox="1"/>
          <p:nvPr/>
        </p:nvSpPr>
        <p:spPr>
          <a:xfrm>
            <a:off x="1154311" y="695731"/>
            <a:ext cx="908189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Анализ существующих решений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95A03A-5AD5-985E-0A8B-7F32F43AF7B1}"/>
              </a:ext>
            </a:extLst>
          </p:cNvPr>
          <p:cNvSpPr txBox="1"/>
          <p:nvPr/>
        </p:nvSpPr>
        <p:spPr>
          <a:xfrm>
            <a:off x="225172" y="5454689"/>
            <a:ext cx="709540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4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В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ывод: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Существующие решения не предоставляют интеллектуальных рекомендаций.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A39D81-A30D-9098-EDD8-2FA8875C0407}"/>
              </a:ext>
            </a:extLst>
          </p:cNvPr>
          <p:cNvSpPr txBox="1"/>
          <p:nvPr/>
        </p:nvSpPr>
        <p:spPr>
          <a:xfrm>
            <a:off x="225174" y="1442253"/>
            <a:ext cx="3884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Сравнение с аналогами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49E9210-615C-4656-2FE5-A904694F7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076D2737-815D-1536-A800-0693B89B889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5975" y="5097503"/>
            <a:ext cx="1485420" cy="17604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C9EF06-0A00-42DC-8685-6CC810C005CA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77434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6F0130-4ADA-E2AE-E0C9-03C1D802F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6</a:t>
            </a:fld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C0CBE8-308A-7640-C69C-C9BA4F4BF461}"/>
              </a:ext>
            </a:extLst>
          </p:cNvPr>
          <p:cNvSpPr txBox="1"/>
          <p:nvPr/>
        </p:nvSpPr>
        <p:spPr>
          <a:xfrm>
            <a:off x="1154311" y="698770"/>
            <a:ext cx="84927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Функциональные требования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806C2D-18A5-87C2-A856-58F92B1BFA7D}"/>
              </a:ext>
            </a:extLst>
          </p:cNvPr>
          <p:cNvSpPr txBox="1"/>
          <p:nvPr/>
        </p:nvSpPr>
        <p:spPr>
          <a:xfrm>
            <a:off x="689742" y="1498792"/>
            <a:ext cx="10712031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8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Основные функции:</a:t>
            </a:r>
            <a:endParaRPr lang="ru-RU" sz="28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</a:t>
            </a:r>
            <a:r>
              <a:rPr lang="ru-RU" sz="2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д</a:t>
            </a:r>
            <a:r>
              <a:rPr lang="ru-RU" sz="2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ля заказчика:</a:t>
            </a:r>
            <a:endParaRPr lang="ru-RU" sz="2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Просмотр списка поставщиков с фильтрацией.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Создание заказов и получение рекомендаций.</a:t>
            </a: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</a:t>
            </a:r>
            <a:r>
              <a:rPr lang="ru-RU" sz="2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д</a:t>
            </a:r>
            <a:r>
              <a:rPr lang="ru-RU" sz="2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ля поставщика:</a:t>
            </a:r>
            <a:endParaRPr lang="ru-RU" sz="2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Регистрация и управление своими данными.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Подписка на уведомления о новых заказах.</a:t>
            </a:r>
          </a:p>
          <a:p>
            <a:pPr algn="l">
              <a:buFont typeface="+mj-lt"/>
              <a:buAutoNum type="arabicPeriod"/>
            </a:pPr>
            <a:r>
              <a:rPr lang="ru-RU" sz="2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 </a:t>
            </a:r>
            <a:r>
              <a:rPr lang="ru-RU" sz="2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д</a:t>
            </a:r>
            <a:r>
              <a:rPr lang="ru-RU" sz="2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ля администратора:</a:t>
            </a:r>
            <a:endParaRPr lang="ru-RU" sz="2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Полный доступ к данным (CRUD).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Управление пользователями и настройками системы.</a:t>
            </a:r>
          </a:p>
          <a:p>
            <a:pPr marL="742950" lvl="1" indent="-285750" algn="l">
              <a:buFont typeface="+mj-lt"/>
              <a:buAutoNum type="arabicPeriod"/>
            </a:pPr>
            <a:endParaRPr lang="ru-RU" sz="2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/>
            <a:r>
              <a:rPr lang="ru-RU" sz="24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Технические требования:</a:t>
            </a:r>
            <a:endParaRPr lang="ru-RU" sz="24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Аутентификация по токенам и JWT-токенам.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Поддержка HTTP-методов (GET, POST, PUT, DELETE).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Использование JSON для обмена данными.</a:t>
            </a:r>
            <a:endParaRPr lang="ru-RU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4BA7F17-C9F4-D6AB-267D-B13B8AC93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темнота, черный, снимок экрана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46B2291E-3439-F23B-CA06-16A4C6A3043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675" y="1871224"/>
            <a:ext cx="2905125" cy="3810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EBFFD4-D132-4161-AD60-A6AE2AB4CA31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48971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3127AE-94B9-CF3C-70CE-442D14C6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7</a:t>
            </a:fld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A3C815-C3DD-068E-AF04-D7E462FA33BA}"/>
              </a:ext>
            </a:extLst>
          </p:cNvPr>
          <p:cNvSpPr txBox="1"/>
          <p:nvPr/>
        </p:nvSpPr>
        <p:spPr>
          <a:xfrm>
            <a:off x="410732" y="1400696"/>
            <a:ext cx="1027631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Архитектурные подходы:</a:t>
            </a:r>
          </a:p>
          <a:p>
            <a:endParaRPr lang="ru-RU" sz="12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F922FDFD-A2B4-C684-84CA-AF4AC54C3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518324DE-0ABD-F3D3-7E6A-F658004602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8775" y="4233350"/>
            <a:ext cx="2943225" cy="215591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FB3EAFA-524A-4818-BBB1-2BB69C8A78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085" y="2303410"/>
            <a:ext cx="5881796" cy="391966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657F01F-84E3-4E9A-9ADC-4F0624BBFD6C}"/>
              </a:ext>
            </a:extLst>
          </p:cNvPr>
          <p:cNvSpPr txBox="1"/>
          <p:nvPr/>
        </p:nvSpPr>
        <p:spPr>
          <a:xfrm>
            <a:off x="1154311" y="698770"/>
            <a:ext cx="85517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Анализ подходов и методов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188BB5-8EA0-4DF5-963C-2CD658929900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323305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0D9B423-FDB0-BB91-B85E-401E1153F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8</a:t>
            </a:fld>
            <a:endParaRPr lang="ru-RU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30937C8-5BD8-030B-286A-9015EDA2B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9AC72315-527C-5230-4903-80D60E96FDC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519" y="4606435"/>
            <a:ext cx="2290281" cy="222091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2762535-1ED5-4E49-9BE5-A9244640D8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11" y="1588842"/>
            <a:ext cx="2160000" cy="261769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C91D15-B222-4945-8ADD-C865263161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5285" y="1877473"/>
            <a:ext cx="3409949" cy="155152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784BE35-500E-4CF5-8B5D-C185BE9BD5D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11" y="4128350"/>
            <a:ext cx="2160000" cy="222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43D8396-3080-4EE4-810B-A6B27256F0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7296" y="4018388"/>
            <a:ext cx="2736464" cy="21600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7F903B2-E741-474F-A6D2-EE6740E7972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14" y="1877473"/>
            <a:ext cx="3512890" cy="15515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3C6D19-83F5-40AF-941F-4B50FF7F9B84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0976DB-430D-467B-A24F-5CE1BCB988B6}"/>
              </a:ext>
            </a:extLst>
          </p:cNvPr>
          <p:cNvSpPr txBox="1"/>
          <p:nvPr/>
        </p:nvSpPr>
        <p:spPr>
          <a:xfrm>
            <a:off x="1154311" y="698770"/>
            <a:ext cx="85517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В</a:t>
            </a:r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ыбранные средства реализации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01300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AD2EF74-A932-BD17-C670-06D348AB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9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1AE142-1310-BF7C-BFB1-956314231372}"/>
              </a:ext>
            </a:extLst>
          </p:cNvPr>
          <p:cNvSpPr txBox="1"/>
          <p:nvPr/>
        </p:nvSpPr>
        <p:spPr>
          <a:xfrm>
            <a:off x="1154311" y="656278"/>
            <a:ext cx="7316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Архитектура приложения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1DD428EE-A509-AB85-EB64-BA7AE1FF4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снимок экрана,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DB7E14EB-980C-FE0E-D494-8EB6060CB3D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519" y="4889211"/>
            <a:ext cx="1668585" cy="142664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53FA0-8865-4E75-8B77-FFA0F14521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39979" y="1498509"/>
            <a:ext cx="5130897" cy="48173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91ACDB-8870-40A3-90EA-596B4914A3BE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3393304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450F11-F916-1FBA-83E8-EB45BCB2D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10</a:t>
            </a:fld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DC1651-3087-F153-2CA1-33FD0AEC5DEA}"/>
              </a:ext>
            </a:extLst>
          </p:cNvPr>
          <p:cNvSpPr txBox="1"/>
          <p:nvPr/>
        </p:nvSpPr>
        <p:spPr>
          <a:xfrm>
            <a:off x="1154311" y="698770"/>
            <a:ext cx="88399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О</a:t>
            </a:r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писание алгоритма работы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DC46D3-677E-C829-BDCE-2BF9F33AA5EA}"/>
              </a:ext>
            </a:extLst>
          </p:cNvPr>
          <p:cNvSpPr txBox="1"/>
          <p:nvPr/>
        </p:nvSpPr>
        <p:spPr>
          <a:xfrm>
            <a:off x="312526" y="1375851"/>
            <a:ext cx="1104127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2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1. </a:t>
            </a:r>
            <a:r>
              <a:rPr lang="ru-RU" sz="2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аутентификация пользователя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ru-RU" sz="22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Пользователь вводит логин/пароль → получает токен или JWT-токен.</a:t>
            </a:r>
          </a:p>
          <a:p>
            <a:pPr lvl="1"/>
            <a:endParaRPr lang="ru-RU" sz="11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ru-RU" sz="22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Токен передается в заголовке запроса для доступа к API.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ru-RU" sz="16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/>
            <a:r>
              <a:rPr lang="ru-RU" sz="2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2. взаимодействие с системой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ru-RU" sz="2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Заказчик:</a:t>
            </a:r>
            <a:endParaRPr lang="ru-RU" sz="22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lvl="2"/>
            <a:r>
              <a:rPr lang="ru-RU" sz="22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Создает заказ → получает список рекомендованных поставщиков.</a:t>
            </a:r>
            <a:endParaRPr lang="ru-RU" sz="200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ru-RU" sz="2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Поставщик:</a:t>
            </a:r>
            <a:endParaRPr lang="ru-RU" sz="22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lvl="2"/>
            <a:r>
              <a:rPr lang="ru-RU" sz="22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Редактирует свой профиль → данные сохраняются в БД.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ru-RU" sz="2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Администратор:</a:t>
            </a:r>
            <a:endParaRPr lang="ru-RU" sz="22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lvl="2"/>
            <a:r>
              <a:rPr lang="ru-RU" sz="22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Управляет основными сущностями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ru-RU" sz="11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algn="l"/>
            <a:r>
              <a:rPr lang="ru-RU" sz="22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3. ф</a:t>
            </a:r>
            <a:r>
              <a:rPr lang="ru-RU" sz="22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ормирование рекомендаций</a:t>
            </a:r>
          </a:p>
          <a:p>
            <a:pPr marL="800100" lvl="1" indent="-342900">
              <a:buFont typeface="Wingdings" panose="05000000000000000000" pitchFamily="2" charset="2"/>
              <a:buChar char="v"/>
            </a:pPr>
            <a:r>
              <a:rPr lang="ru-RU" sz="22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Модель анализирует заказ → формирует рекомендацию по поставщикам→ возвращает JSON-ответ.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77BA683-5547-3F96-4B31-1909CD8BC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Изображение выглядит как снимок экрана, черный, Графика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31E2CD63-DC73-92B7-DBA8-9467EE20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707" y="2472025"/>
            <a:ext cx="3119539" cy="29167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240BCA-5AE0-4193-B78B-2834F367BC7E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2942827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E75FEA-84C7-4FC4-A163-7CDFC8522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11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DF8E828-0862-4D9C-81D4-1C4E5B55C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B084FD-1185-4324-9D8F-80CDD2C4A9F2}"/>
              </a:ext>
            </a:extLst>
          </p:cNvPr>
          <p:cNvSpPr txBox="1"/>
          <p:nvPr/>
        </p:nvSpPr>
        <p:spPr>
          <a:xfrm>
            <a:off x="1154311" y="656278"/>
            <a:ext cx="73164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Принцип работы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0E96E9-32DC-4027-8337-904524011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9921" y="1858379"/>
            <a:ext cx="7016823" cy="3391693"/>
          </a:xfrm>
          <a:prstGeom prst="rect">
            <a:avLst/>
          </a:prstGeom>
        </p:spPr>
      </p:pic>
      <p:pic>
        <p:nvPicPr>
          <p:cNvPr id="10" name="Рисунок 9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FC420256-1AD1-453A-802F-D210BB1D32D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953" y="4848837"/>
            <a:ext cx="1693835" cy="1507513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A271F3-43B0-47F6-9516-217ED1D043BC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788513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B4DED6-AE75-28CD-178D-C80C7096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12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2A3BB-1457-C2E9-351B-3DD1DBBC9CBB}"/>
              </a:ext>
            </a:extLst>
          </p:cNvPr>
          <p:cNvSpPr txBox="1"/>
          <p:nvPr/>
        </p:nvSpPr>
        <p:spPr>
          <a:xfrm>
            <a:off x="1154311" y="698770"/>
            <a:ext cx="91679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Особенности реализации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767D0B6-4CF0-997C-440C-DDA76C351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3C21C519-DC27-2246-621A-AA5DADE0E6D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6402" y="5020085"/>
            <a:ext cx="1396254" cy="12740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811C38-9FC5-4A3F-8046-9A886CA22FDA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EE941C-BA2D-432B-90D3-0C62ED6C7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4" y="2209516"/>
            <a:ext cx="5398469" cy="265365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F0981C1-A1CE-4CB5-8218-4D29095C34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168" y="2209515"/>
            <a:ext cx="5824924" cy="265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0023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E542CF-8D6B-44C6-86CD-33B7665C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13</a:t>
            </a:fld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591851A-832D-4A43-A963-FDA76B133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183868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3BA0B2-4B05-4C01-9D6B-E005B50D5858}"/>
              </a:ext>
            </a:extLst>
          </p:cNvPr>
          <p:cNvSpPr txBox="1"/>
          <p:nvPr/>
        </p:nvSpPr>
        <p:spPr>
          <a:xfrm>
            <a:off x="1154311" y="670897"/>
            <a:ext cx="84136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404040"/>
                </a:solidFill>
                <a:effectLst/>
                <a:latin typeface="DeepSeek-CJK-patch"/>
              </a:rPr>
              <a:t> </a:t>
            </a:r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</a:rPr>
              <a:t>Демонстрация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5F6C8D-426A-4A65-A2BC-350920AC1F80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1455813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D2859D-1314-7F4D-0A16-C0C02CF25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14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F9ED28-34D4-51B1-D72A-6CD9B62FF174}"/>
              </a:ext>
            </a:extLst>
          </p:cNvPr>
          <p:cNvSpPr txBox="1"/>
          <p:nvPr/>
        </p:nvSpPr>
        <p:spPr>
          <a:xfrm>
            <a:off x="1154311" y="670897"/>
            <a:ext cx="84136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404040"/>
                </a:solidFill>
                <a:effectLst/>
                <a:latin typeface="DeepSeek-CJK-patch"/>
              </a:rPr>
              <a:t> </a:t>
            </a:r>
            <a:r>
              <a:rPr lang="ru-RU" sz="4000" b="1" dirty="0">
                <a:solidFill>
                  <a:srgbClr val="102D69"/>
                </a:solidFill>
                <a:latin typeface="Navigo" panose="02070503070706040303" pitchFamily="18" charset="-52"/>
              </a:rPr>
              <a:t>Р</a:t>
            </a:r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езультаты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8A6F7-BF2C-0077-CE73-EEB107F8CAFC}"/>
              </a:ext>
            </a:extLst>
          </p:cNvPr>
          <p:cNvSpPr txBox="1"/>
          <p:nvPr/>
        </p:nvSpPr>
        <p:spPr>
          <a:xfrm>
            <a:off x="629179" y="2081830"/>
            <a:ext cx="9143996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3600" b="1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ч</a:t>
            </a:r>
            <a:r>
              <a:rPr lang="ru-RU" sz="36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то сделано:</a:t>
            </a:r>
          </a:p>
          <a:p>
            <a:pPr algn="l"/>
            <a:endParaRPr lang="ru-RU" sz="22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8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Реализована серверная часть с REST API.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ru-RU" sz="14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8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Настроена аутентификация и ролевая модель.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ru-RU" sz="14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800" b="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Интегрирована рекомендательная модель.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ru-RU" sz="28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Организована контейнеризация с помощью </a:t>
            </a:r>
            <a:r>
              <a:rPr lang="en-US" sz="28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Docker.</a:t>
            </a:r>
            <a:br>
              <a:rPr lang="ru-RU" sz="28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</a:br>
            <a:endParaRPr lang="ru-RU" sz="28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77E20DB-54F8-6E2A-746B-3020C591F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09035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5384F44-2349-4C23-86E4-01B47BDD589A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2307090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A39A3A-0F9D-01C2-F7BB-F2860750B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4A532-320C-E3D1-7C82-2A7999E341C3}"/>
              </a:ext>
            </a:extLst>
          </p:cNvPr>
          <p:cNvSpPr txBox="1"/>
          <p:nvPr/>
        </p:nvSpPr>
        <p:spPr>
          <a:xfrm>
            <a:off x="1362973" y="698770"/>
            <a:ext cx="94660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Направления дальнейшей работы</a:t>
            </a:r>
            <a:endParaRPr lang="ru-RU" sz="4000" b="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3FC2AF-C79F-3915-DB03-0CB14F0C8DF1}"/>
              </a:ext>
            </a:extLst>
          </p:cNvPr>
          <p:cNvSpPr txBox="1"/>
          <p:nvPr/>
        </p:nvSpPr>
        <p:spPr>
          <a:xfrm>
            <a:off x="142613" y="2305615"/>
            <a:ext cx="100177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71550" lvl="1" indent="-514350" algn="l">
              <a:buAutoNum type="arabicPeriod"/>
            </a:pPr>
            <a:r>
              <a:rPr lang="ru-RU" sz="2800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Интеграция с внешними источниками данных</a:t>
            </a:r>
          </a:p>
          <a:p>
            <a:pPr marL="971550" lvl="1" indent="-514350" algn="l">
              <a:buAutoNum type="arabicPeriod"/>
            </a:pPr>
            <a:r>
              <a:rPr lang="ru-RU" sz="28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Увеличение количества показателей надежности для поставщиков</a:t>
            </a:r>
          </a:p>
          <a:p>
            <a:pPr marL="971550" lvl="1" indent="-514350" algn="l">
              <a:buAutoNum type="arabicPeriod"/>
            </a:pPr>
            <a:r>
              <a:rPr lang="ru-RU" sz="28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</a:rPr>
              <a:t>Интегрирование новых рекомендательных моделей</a:t>
            </a:r>
          </a:p>
          <a:p>
            <a:pPr marL="971550" lvl="1" indent="-514350" algn="l">
              <a:buAutoNum type="arabicPeriod"/>
            </a:pPr>
            <a:endParaRPr lang="ru-RU" sz="2800" i="0" dirty="0">
              <a:solidFill>
                <a:srgbClr val="102D69"/>
              </a:solidFill>
              <a:effectLst/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F32F787-E3BF-7AA3-AE2E-30E1AB01D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 descr="Изображение выглядит как снимок экрана, черный, темнота&#10;&#10;Автоматически созданное описание">
            <a:extLst>
              <a:ext uri="{FF2B5EF4-FFF2-40B4-BE49-F238E27FC236}">
                <a16:creationId xmlns:a16="http://schemas.microsoft.com/office/drawing/2014/main" id="{377FFB0C-4C18-7D91-2F92-8DB2098EB03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964" y="4475478"/>
            <a:ext cx="1961862" cy="16773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B02586-44BD-4ADC-82E9-3A44B835B3B1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47110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334D77-D381-7918-19EB-8504AC219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269D5-67E1-47FE-B8A8-26B39E542C99}" type="slidenum">
              <a:rPr lang="ru-RU" smtClean="0"/>
              <a:t>16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E298E-81D9-05DE-A6B3-8A418E941466}"/>
              </a:ext>
            </a:extLst>
          </p:cNvPr>
          <p:cNvSpPr txBox="1"/>
          <p:nvPr/>
        </p:nvSpPr>
        <p:spPr>
          <a:xfrm>
            <a:off x="1154311" y="698770"/>
            <a:ext cx="104915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40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Список использованных источников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B5539-C2C1-7E91-AA55-481021437BE4}"/>
              </a:ext>
            </a:extLst>
          </p:cNvPr>
          <p:cNvSpPr txBox="1"/>
          <p:nvPr/>
        </p:nvSpPr>
        <p:spPr>
          <a:xfrm>
            <a:off x="158124" y="1951551"/>
            <a:ext cx="11875751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Документация по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Python</a:t>
            </a: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[</a:t>
            </a: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] URL: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https://docs.python.org/3.10/</a:t>
            </a:r>
            <a:endParaRPr lang="en-US" dirty="0">
              <a:solidFill>
                <a:srgbClr val="102D69"/>
              </a:solidFill>
              <a:effectLst/>
              <a:latin typeface="Navigo" panose="02070503070706040303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Документация по 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Django [</a:t>
            </a:r>
            <a:r>
              <a:rPr lang="ru-RU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] URL: 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https://www.djangoproject.com/</a:t>
            </a:r>
            <a:endParaRPr lang="en-US" dirty="0">
              <a:solidFill>
                <a:srgbClr val="102D69"/>
              </a:solidFill>
              <a:latin typeface="Navigo" panose="02070503070706040303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Документация по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Django REST F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ramework [</a:t>
            </a:r>
            <a:r>
              <a:rPr lang="ru-RU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]</a:t>
            </a:r>
            <a:r>
              <a:rPr lang="ru-RU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URL: </a:t>
            </a:r>
            <a:r>
              <a:rPr lang="en-US" dirty="0">
                <a:solidFill>
                  <a:srgbClr val="96607D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</a:t>
            </a:r>
            <a:r>
              <a:rPr lang="en-US" dirty="0">
                <a:solidFill>
                  <a:srgbClr val="102D69"/>
                </a:solidFill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jango-rest-framework.org/</a:t>
            </a:r>
            <a:endParaRPr lang="en-US" dirty="0">
              <a:solidFill>
                <a:srgbClr val="102D69"/>
              </a:solidFill>
              <a:latin typeface="Navigo" panose="02070503070706040303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AutoNum type="arabicPeriod"/>
            </a:pP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Документация по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Docker [</a:t>
            </a: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Электронный ресурс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]</a:t>
            </a:r>
            <a:r>
              <a:rPr lang="ru-RU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</a:rPr>
              <a:t>URL: </a:t>
            </a:r>
            <a:r>
              <a:rPr lang="en-US" dirty="0">
                <a:solidFill>
                  <a:srgbClr val="102D69"/>
                </a:solidFill>
                <a:effectLst/>
                <a:latin typeface="Navigo" panose="02070503070706040303"/>
                <a:ea typeface="Cambria" panose="020405030504060302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https://www.docker.com/</a:t>
            </a:r>
            <a:endParaRPr lang="en-US" dirty="0">
              <a:solidFill>
                <a:srgbClr val="102D69"/>
              </a:solidFill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35C277C-11E5-4417-8C9F-1C7EDCA5A1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 descr="Изображение выглядит как темнота, луна, черный, природа&#10;&#10;Автоматически созданное описание">
            <a:extLst>
              <a:ext uri="{FF2B5EF4-FFF2-40B4-BE49-F238E27FC236}">
                <a16:creationId xmlns:a16="http://schemas.microsoft.com/office/drawing/2014/main" id="{8169A2C1-80E1-4830-8EC7-1F88EF7033B3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915" y="3858246"/>
            <a:ext cx="2631085" cy="25850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4589AE-0626-4A29-B60F-6D785E4590B8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177583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8FF3D99-DDBD-CFDD-2B38-1A30739A71AC}"/>
              </a:ext>
            </a:extLst>
          </p:cNvPr>
          <p:cNvSpPr txBox="1"/>
          <p:nvPr/>
        </p:nvSpPr>
        <p:spPr>
          <a:xfrm>
            <a:off x="1778434" y="2705725"/>
            <a:ext cx="86351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400" b="1" i="0" dirty="0">
                <a:solidFill>
                  <a:srgbClr val="102D69"/>
                </a:solidFill>
                <a:effectLst/>
                <a:latin typeface="Navigo" panose="02070503070706040303" pitchFamily="18" charset="-52"/>
                <a:ea typeface="Navigo" panose="02070503070706040303" pitchFamily="18" charset="-52"/>
              </a:rPr>
              <a:t>Благодарю за внимание!</a:t>
            </a:r>
            <a:endParaRPr lang="ru-RU" sz="4400" dirty="0">
              <a:solidFill>
                <a:srgbClr val="102D69"/>
              </a:solidFill>
              <a:latin typeface="Navigo" panose="02070503070706040303" pitchFamily="18" charset="-52"/>
              <a:ea typeface="Navigo" panose="02070503070706040303" pitchFamily="18" charset="-52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5C47A22E-662E-7134-B0D5-686E7D0812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74" y="234202"/>
            <a:ext cx="929137" cy="9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07D534A-BE4B-E94F-C837-1F9FA26B4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388" y="6156776"/>
            <a:ext cx="1915256" cy="56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964DA3-18ED-9BB6-6E99-7A8E59F0A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185" y="6156775"/>
            <a:ext cx="1869974" cy="56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52D95-4AD5-4D1D-8F6A-1C274BBE4DB4}"/>
              </a:ext>
            </a:extLst>
          </p:cNvPr>
          <p:cNvSpPr txBox="1"/>
          <p:nvPr/>
        </p:nvSpPr>
        <p:spPr>
          <a:xfrm>
            <a:off x="4596271" y="498715"/>
            <a:ext cx="7510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ОП Программная инженерия 2 курс</a:t>
            </a:r>
            <a:r>
              <a:rPr lang="en-US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 | </a:t>
            </a:r>
            <a:r>
              <a:rPr lang="ru-RU" sz="2000" dirty="0">
                <a:solidFill>
                  <a:srgbClr val="102D69"/>
                </a:solidFill>
                <a:latin typeface="Navigo" panose="02070503070706040303" pitchFamily="18" charset="-52"/>
                <a:ea typeface="Navigo" panose="02070503070706040303" pitchFamily="18" charset="-52"/>
                <a:cs typeface="Roboto" panose="02000000000000000000" pitchFamily="2" charset="0"/>
              </a:rPr>
              <a:t>Москва 2025</a:t>
            </a:r>
          </a:p>
        </p:txBody>
      </p:sp>
    </p:spTree>
    <p:extLst>
      <p:ext uri="{BB962C8B-B14F-4D97-AF65-F5344CB8AC3E}">
        <p14:creationId xmlns:p14="http://schemas.microsoft.com/office/powerpoint/2010/main" val="25307783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4814</TotalTime>
  <Words>802</Words>
  <Application>Microsoft Office PowerPoint</Application>
  <PresentationFormat>Широкоэкранный</PresentationFormat>
  <Paragraphs>160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DeepSeek-CJK-patch</vt:lpstr>
      <vt:lpstr>Navigo</vt:lpstr>
      <vt:lpstr>Times New Roman</vt:lpstr>
      <vt:lpstr>Wingdings</vt:lpstr>
      <vt:lpstr>Тема Office</vt:lpstr>
      <vt:lpstr>«Рекомендательные системы для B2B: серверная часть»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«Рекомендательные системы для B2B: серверная часть»</dc:title>
  <dc:creator/>
  <cp:lastModifiedBy>Nikita</cp:lastModifiedBy>
  <cp:revision>74</cp:revision>
  <dcterms:created xsi:type="dcterms:W3CDTF">2025-04-13T14:05:38Z</dcterms:created>
  <dcterms:modified xsi:type="dcterms:W3CDTF">2025-04-21T20:28:02Z</dcterms:modified>
</cp:coreProperties>
</file>